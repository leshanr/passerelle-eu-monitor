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line: "The code watches Europe. I decide what matters. Substack explains it. Instagram makes it accessible." Keep the intro to twenty seconds — the deck does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dot grid is the whole argument. Do not read the body text aloud — point at the five blue squares and say "that is the problem".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sentences is the whole concept. If someone only remembers one slide, this is the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source-health warning, not the numbers. "Four of fifteen feeds had published nothing in weeks. The system tells me that. Nothing else I looked at does."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line that lands with technical audiences: "breadth beats repetition — four independent reasons to care outrank one reason stated loudly." That is a design decision, not a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"If the honest answer to question five is they should not care, I cut the item." That sentence is the editorial standard of the whole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 here. The red dashed line is the argument: everything left of it is free, everything right of it is the work — and the work is the part worth paying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mock-up is a real layout, not a sketch — the beat chip, the source line under every headline, and the "why you should care" rule are all fixed furniture.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point is UK Fact Check Politics — but more substantive, more analytical and aimed squarely at 18–30. Slide six is the one that gets screenshotted, so it gets the most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efficiency argument. One research effort, four outputs, and only one of the six steps costs real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honest bit out loud: a student Substack I ran before died because everything depended on one person having a free week. The monitoring system is the fix — it produces the raw material whether or not I am paying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failure plan matters as much as the schedule: publish short, or publish late, but never publish something you have not read the source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disparage the competition — the first two columns are good at what they do. The point is that neither is built for this reader.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tuning log is the sleeper. It shows judgement being applied to the machine over time — which is exactly what a monitoring role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two-line philosophy. Then stop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121408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-250" kern="0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MONITOR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566928" y="3529584"/>
            <a:ext cx="5138928" cy="68580"/>
          </a:xfrm>
          <a:prstGeom prst="rect">
            <a:avLst/>
          </a:prstGeom>
          <a:solidFill>
            <a:srgbClr val="4F8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38039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4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European politics. Actually worth knowing.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5074920"/>
            <a:ext cx="5089550" cy="0"/>
          </a:xfrm>
          <a:prstGeom prst="line">
            <a:avLst/>
          </a:prstGeom>
          <a:noFill/>
          <a:ln w="19050">
            <a:solidFill>
              <a:srgbClr val="4F8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5656478" y="4690872"/>
            <a:ext cx="387248" cy="384048"/>
          </a:xfrm>
          <a:prstGeom prst="line">
            <a:avLst/>
          </a:prstGeom>
          <a:noFill/>
          <a:ln w="19050">
            <a:solidFill>
              <a:srgbClr val="4F8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43727" y="4690872"/>
            <a:ext cx="387248" cy="384048"/>
          </a:xfrm>
          <a:prstGeom prst="line">
            <a:avLst/>
          </a:prstGeom>
          <a:noFill/>
          <a:ln w="19050">
            <a:solidFill>
              <a:srgbClr val="4F8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30975" y="5074920"/>
            <a:ext cx="5200193" cy="0"/>
          </a:xfrm>
          <a:prstGeom prst="line">
            <a:avLst/>
          </a:prstGeom>
          <a:noFill/>
          <a:ln w="19050">
            <a:solidFill>
              <a:srgbClr val="4F86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56235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fortnightly European politics briefing for people under 30 —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a monitoring system that watches the EU institutions so nobody has to.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613087" y="5623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000" spc="20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 deck</a:t>
            </a:r>
            <a:endParaRPr lang="en-US" sz="1000" dirty="0"/>
          </a:p>
          <a:p>
            <a:pPr algn="r" indent="0" marL="0">
              <a:lnSpc>
                <a:spcPts val="1600"/>
              </a:lnSpc>
              <a:buNone/>
            </a:pPr>
            <a:r>
              <a:rPr lang="en-US" sz="1000" spc="20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373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 MONITOR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4373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60" kern="0" dirty="0">
                <a:solidFill>
                  <a:srgbClr val="F06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41248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90"/>
              </a:lnSpc>
              <a:buNone/>
            </a:pPr>
            <a:r>
              <a:rPr lang="en-US" sz="38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EU publishes everything.</a:t>
            </a:r>
            <a:endParaRPr lang="en-US" sz="3800" dirty="0"/>
          </a:p>
          <a:p>
            <a:pPr indent="0" marL="0">
              <a:lnSpc>
                <a:spcPts val="3990"/>
              </a:lnSpc>
              <a:buNone/>
            </a:pPr>
            <a:r>
              <a:rPr lang="en-US" sz="38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none of it reaches anyone.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487168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Commission, Parliament, Council, the agencies and the Court between them put out hundreds of documents a fortnight. Almost all of it is procedural. A small amount of it changes something real for a 22-year-old.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has time to find out which is which — so most people under 30 simply do not follow European politics at all, and then find out about it when it has already happened to them.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233172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37376" y="233172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02552" y="233172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67728" y="233172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32904" y="233172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233172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63256" y="233172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28432" y="233172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233172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58784" y="233172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233172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89136" y="233172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54312" y="233172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19488" y="233172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84664" y="233172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233172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15016" y="233172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80192" y="233172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45368" y="233172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10544" y="233172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257860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37376" y="257860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02552" y="257860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67728" y="257860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32904" y="257860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257860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63256" y="257860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28432" y="257860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93608" y="257860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58784" y="257860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23960" y="257860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89136" y="2578608"/>
            <a:ext cx="224028" cy="205740"/>
          </a:xfrm>
          <a:prstGeom prst="rect">
            <a:avLst/>
          </a:prstGeom>
          <a:solidFill>
            <a:srgbClr val="4F8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54312" y="257860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19488" y="257860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884664" y="257860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149840" y="257860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415016" y="257860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680192" y="257860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45368" y="257860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210544" y="257860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72200" y="282549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37376" y="282549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02552" y="282549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967728" y="282549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232904" y="282549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498080" y="282549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63256" y="282549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28432" y="282549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293608" y="282549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558784" y="282549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23960" y="282549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089136" y="282549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354312" y="282549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619488" y="282549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884664" y="282549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149840" y="282549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415016" y="282549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680192" y="282549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945368" y="2825496"/>
            <a:ext cx="224028" cy="205740"/>
          </a:xfrm>
          <a:prstGeom prst="rect">
            <a:avLst/>
          </a:prstGeom>
          <a:solidFill>
            <a:srgbClr val="4F8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210544" y="282549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172200" y="307238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37376" y="307238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702552" y="307238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967728" y="307238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232904" y="307238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498080" y="307238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763256" y="307238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028432" y="307238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93608" y="307238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558784" y="307238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823960" y="307238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089136" y="307238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354312" y="307238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619488" y="307238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884664" y="307238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149840" y="307238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415016" y="307238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680192" y="307238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945368" y="307238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210544" y="307238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172200" y="331927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437376" y="331927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02552" y="331927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967728" y="331927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232904" y="331927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498080" y="331927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763256" y="331927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028432" y="331927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293608" y="331927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558784" y="331927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823960" y="331927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089136" y="331927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354312" y="331927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619488" y="331927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884664" y="331927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149840" y="331927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415016" y="331927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680192" y="331927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945368" y="331927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210544" y="331927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172200" y="356616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437376" y="356616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702552" y="356616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967728" y="356616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232904" y="356616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498080" y="356616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763256" y="356616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028432" y="356616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293608" y="356616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558784" y="356616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823960" y="356616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089136" y="356616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354312" y="3566160"/>
            <a:ext cx="224028" cy="205740"/>
          </a:xfrm>
          <a:prstGeom prst="rect">
            <a:avLst/>
          </a:prstGeom>
          <a:solidFill>
            <a:srgbClr val="4F8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619488" y="356616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884664" y="356616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0149840" y="356616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415016" y="356616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680192" y="356616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945368" y="356616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1210544" y="356616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172200" y="381304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437376" y="381304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702552" y="381304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967728" y="381304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232904" y="381304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498080" y="381304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763256" y="381304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028432" y="381304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293608" y="381304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558784" y="381304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823960" y="381304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089136" y="381304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354312" y="381304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619488" y="381304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884664" y="381304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149840" y="381304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0415016" y="381304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0680192" y="381304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0945368" y="381304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1210544" y="381304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172200" y="405993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437376" y="405993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702552" y="405993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967728" y="405993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232904" y="405993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498080" y="405993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763256" y="405993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028432" y="405993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293608" y="405993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558784" y="405993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823960" y="405993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089136" y="405993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354312" y="405993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9619488" y="405993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884664" y="405993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0149840" y="405993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415016" y="405993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0680192" y="405993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945368" y="405993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1210544" y="4059936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172200" y="430682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437376" y="430682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702552" y="430682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967728" y="430682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232904" y="430682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498080" y="430682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763256" y="4306824"/>
            <a:ext cx="224028" cy="205740"/>
          </a:xfrm>
          <a:prstGeom prst="rect">
            <a:avLst/>
          </a:prstGeom>
          <a:solidFill>
            <a:srgbClr val="4F8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028432" y="430682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293608" y="430682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558784" y="430682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823960" y="430682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089136" y="430682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9354312" y="430682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619488" y="430682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9884664" y="430682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0149840" y="430682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0415016" y="430682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0680192" y="430682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0945368" y="430682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1210544" y="4306824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172200" y="455371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437376" y="455371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702552" y="455371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967728" y="455371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232904" y="455371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498080" y="455371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763256" y="455371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8028432" y="455371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8293608" y="455371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8558784" y="455371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8823960" y="455371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9089136" y="455371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9354312" y="455371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9619488" y="455371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9884664" y="455371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10149840" y="455371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0415016" y="455371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0680192" y="455371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0945368" y="455371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1210544" y="4553712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6172200" y="480060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6437376" y="480060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6702552" y="480060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6967728" y="4800600"/>
            <a:ext cx="224028" cy="205740"/>
          </a:xfrm>
          <a:prstGeom prst="rect">
            <a:avLst/>
          </a:prstGeom>
          <a:solidFill>
            <a:srgbClr val="4F8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232904" y="480060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498080" y="480060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763256" y="480060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028432" y="480060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293608" y="480060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558784" y="480060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823960" y="480060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9089136" y="480060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9354312" y="480060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9619488" y="480060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9884664" y="480060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0149840" y="480060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0415016" y="480060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0680192" y="480060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0945368" y="480060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1210544" y="4800600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6172200" y="504748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6437376" y="504748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6702552" y="504748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6967728" y="504748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7232904" y="504748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7498080" y="504748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7763256" y="504748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028432" y="504748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293608" y="504748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558784" y="504748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823960" y="504748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089136" y="504748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354312" y="504748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619488" y="504748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884664" y="504748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10149840" y="504748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10415016" y="504748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10680192" y="504748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10945368" y="504748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11210544" y="5047488"/>
            <a:ext cx="224028" cy="20574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7" name="Text 245"/>
          <p:cNvSpPr txBox="1"/>
          <p:nvPr/>
        </p:nvSpPr>
        <p:spPr>
          <a:xfrm>
            <a:off x="6172200" y="1947672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240 INSTITUTIONAL PUBLICATIONS IN ONE FORTNIGHT</a:t>
            </a:r>
            <a:endParaRPr lang="en-US" sz="950" dirty="0"/>
          </a:p>
        </p:txBody>
      </p:sp>
      <p:sp>
        <p:nvSpPr>
          <p:cNvPr id="248" name="Text 246"/>
          <p:cNvSpPr txBox="1"/>
          <p:nvPr/>
        </p:nvSpPr>
        <p:spPr>
          <a:xfrm>
            <a:off x="6172200" y="549554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OF THEM ARE WORTH YOUR TEN MINUTES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373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 MONITOR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4373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60" kern="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IDEA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41248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fortnightly briefing that finds the five things</a:t>
            </a:r>
            <a:endParaRPr lang="en-US" sz="3600" dirty="0"/>
          </a:p>
          <a:p>
            <a:pPr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actually matter — and explains why.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64261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25296" y="2606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watches Europe.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13248" y="2660904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Fifteen institutional feeds, continuously, in the background.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3355848"/>
            <a:ext cx="10698480" cy="0"/>
          </a:xfrm>
          <a:prstGeom prst="line">
            <a:avLst/>
          </a:prstGeom>
          <a:noFill/>
          <a:ln w="12700">
            <a:solidFill>
              <a:srgbClr val="2224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35753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25296" y="35387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decide what matters.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413248" y="359359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reads the flags and cuts twenty items down to five.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4288536"/>
            <a:ext cx="10698480" cy="0"/>
          </a:xfrm>
          <a:prstGeom prst="line">
            <a:avLst/>
          </a:prstGeom>
          <a:noFill/>
          <a:ln w="12700">
            <a:solidFill>
              <a:srgbClr val="2224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45079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25296" y="44714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Substack explains it.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5413248" y="45262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minutes, every fortnight, with the primary source on every claim.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5221224"/>
            <a:ext cx="10698480" cy="0"/>
          </a:xfrm>
          <a:prstGeom prst="line">
            <a:avLst/>
          </a:prstGeom>
          <a:noFill/>
          <a:ln w="12700">
            <a:solidFill>
              <a:srgbClr val="2224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5440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25296" y="54041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makes it accessible.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5413248" y="545896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research, cut for a scroll rather than a sit-down.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373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 MONITOR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4373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60" kern="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ENGINE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41248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come back to</a:t>
            </a:r>
            <a:endParaRPr lang="en-US" sz="2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two weeks.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21408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monitor runs on GitHub Actions on the 1st and 15th, with a source health check every Monday. It fetches, parses, drops what it has already seen, scores what is left, and writes a digest.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reports how many sources are stale as prominently as it reports what it found — because a rotted source list and a quiet fortnight in Brussels look identical from the digest.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47091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STANDARD-LIBRARY PYTHON · NO DEPENDENCIES · NO API KEYS</a:t>
            </a:r>
            <a:endParaRPr lang="en-US" sz="900" dirty="0"/>
          </a:p>
        </p:txBody>
      </p:sp>
      <p:pic>
        <p:nvPicPr>
          <p:cNvPr id="8" name="Image 0" descr="/root/EU-Monitor/mockups/out/dash-dig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960120"/>
            <a:ext cx="6720840" cy="48371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373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 MONITOR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4373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60" kern="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DECIDES WHAT MATTERS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41248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questions,</a:t>
            </a:r>
            <a:endParaRPr lang="en-US" sz="2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independently.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21408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keyword monitors ask one: is this about my topic? That surfaces everything the Commission publishes about digital policy — forty items a fortnight, and useless.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asks what a development is about and, separately, why it might matter. The second answer is printed next to every flag, so the review list explains itself.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47091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BEATS · 11 SIGNALS · 607 WEIGHTED KEYWORDS</a:t>
            </a:r>
            <a:endParaRPr lang="en-US" sz="900" dirty="0"/>
          </a:p>
        </p:txBody>
      </p:sp>
      <p:pic>
        <p:nvPicPr>
          <p:cNvPr id="8" name="Image 0" descr="/root/EU-Monitor/mockups/out/dash-sco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960120"/>
            <a:ext cx="6720840" cy="48371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373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 MONITOR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4373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60" kern="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HUMAN LAYER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41248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does not replace editorial judgement.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914400" cy="384048"/>
          </a:xfrm>
          <a:prstGeom prst="rect">
            <a:avLst/>
          </a:prstGeom>
          <a:solidFill>
            <a:srgbClr val="14161B"/>
          </a:solidFill>
          <a:ln w="12700">
            <a:solidFill>
              <a:srgbClr val="363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20116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FINDS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01168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F98"/>
                </a:solidFill>
              </a:rPr>
              <a:t>→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27632" y="2011680"/>
            <a:ext cx="914400" cy="384048"/>
          </a:xfrm>
          <a:prstGeom prst="rect">
            <a:avLst/>
          </a:prstGeom>
          <a:solidFill>
            <a:srgbClr val="12203F"/>
          </a:solidFill>
          <a:ln w="12700">
            <a:solidFill>
              <a:srgbClr val="4F86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27632" y="20116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REVIEW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2542032" y="201168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F98"/>
                </a:solidFill>
              </a:rPr>
              <a:t>→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88336" y="2011680"/>
            <a:ext cx="914400" cy="384048"/>
          </a:xfrm>
          <a:prstGeom prst="rect">
            <a:avLst/>
          </a:prstGeom>
          <a:solidFill>
            <a:srgbClr val="12203F"/>
          </a:solidFill>
          <a:ln w="12700">
            <a:solidFill>
              <a:srgbClr val="4F86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88336" y="20116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RESEARCH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3602736" y="201168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F98"/>
                </a:solidFill>
              </a:rPr>
              <a:t>→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49040" y="2011680"/>
            <a:ext cx="914400" cy="384048"/>
          </a:xfrm>
          <a:prstGeom prst="rect">
            <a:avLst/>
          </a:prstGeom>
          <a:solidFill>
            <a:srgbClr val="12203F"/>
          </a:solidFill>
          <a:ln w="12700">
            <a:solidFill>
              <a:srgbClr val="4F86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49040" y="20116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DECIDE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269748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machine says "this looks potentially significant." That is a different sentence from "this is worth your attention", and the difference is the entire value of the project.</a:t>
            </a:r>
            <a:endParaRPr lang="en-US" sz="1300" dirty="0"/>
          </a:p>
          <a:p>
            <a:pPr indent="0" marL="0">
              <a:lnSpc>
                <a:spcPts val="1950"/>
              </a:lnSpc>
              <a:buNone/>
            </a:pPr>
            <a:endParaRPr lang="en-US" sz="13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selected development is researched against its primary source and answered against seven questions: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What actually happened?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45902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What changed?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48646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Why did it happen?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1389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Who does it affect?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4132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Why should a young person care?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6875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What is the wider political significance?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59618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What happens next?</a:t>
            </a:r>
            <a:endParaRPr lang="en-US" sz="1150" dirty="0"/>
          </a:p>
        </p:txBody>
      </p:sp>
      <p:pic>
        <p:nvPicPr>
          <p:cNvPr id="25" name="Image 0" descr="/root/EU-Monitor/mockups/out/dash-fla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371600"/>
            <a:ext cx="6263640" cy="45079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373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 MONITOR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4373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60" kern="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CONTENT PIPELINE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41248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machine judgement stops and mine begins.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77444" y="2670048"/>
            <a:ext cx="1463040" cy="1737360"/>
          </a:xfrm>
          <a:prstGeom prst="roundRect">
            <a:avLst>
              <a:gd name="adj" fmla="val 3750"/>
            </a:avLst>
          </a:prstGeom>
          <a:solidFill>
            <a:srgbClr val="14161B"/>
          </a:solidFill>
          <a:ln w="12700">
            <a:solidFill>
              <a:srgbClr val="363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2308" y="3054096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32308" y="3803904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institutional feeds</a:t>
            </a:r>
            <a:endParaRPr lang="en-US" sz="650" dirty="0"/>
          </a:p>
        </p:txBody>
      </p:sp>
      <p:sp>
        <p:nvSpPr>
          <p:cNvPr id="9" name="Text 7"/>
          <p:cNvSpPr txBox="1"/>
          <p:nvPr/>
        </p:nvSpPr>
        <p:spPr>
          <a:xfrm>
            <a:off x="2040484" y="3218688"/>
            <a:ext cx="132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F98"/>
                </a:solidFill>
              </a:rPr>
              <a:t>→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73072" y="2670048"/>
            <a:ext cx="1463040" cy="1737360"/>
          </a:xfrm>
          <a:prstGeom prst="roundRect">
            <a:avLst>
              <a:gd name="adj" fmla="val 3750"/>
            </a:avLst>
          </a:prstGeom>
          <a:solidFill>
            <a:srgbClr val="14161B"/>
          </a:solidFill>
          <a:ln w="12700">
            <a:solidFill>
              <a:srgbClr val="363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27936" y="3054096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227936" y="3803904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 · parse · dedupe</a:t>
            </a:r>
            <a:endParaRPr lang="en-US" sz="650" dirty="0"/>
          </a:p>
        </p:txBody>
      </p:sp>
      <p:sp>
        <p:nvSpPr>
          <p:cNvPr id="13" name="Text 11"/>
          <p:cNvSpPr txBox="1"/>
          <p:nvPr/>
        </p:nvSpPr>
        <p:spPr>
          <a:xfrm>
            <a:off x="3636112" y="3218688"/>
            <a:ext cx="132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F98"/>
                </a:solidFill>
              </a:rPr>
              <a:t>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68700" y="2670048"/>
            <a:ext cx="1463040" cy="1737360"/>
          </a:xfrm>
          <a:prstGeom prst="roundRect">
            <a:avLst>
              <a:gd name="adj" fmla="val 3750"/>
            </a:avLst>
          </a:prstGeom>
          <a:solidFill>
            <a:srgbClr val="14161B"/>
          </a:solidFill>
          <a:ln w="12700">
            <a:solidFill>
              <a:srgbClr val="363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23564" y="3054096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823564" y="3803904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→ 12 → 7</a:t>
            </a:r>
            <a:endParaRPr lang="en-US" sz="650" dirty="0"/>
          </a:p>
        </p:txBody>
      </p:sp>
      <p:sp>
        <p:nvSpPr>
          <p:cNvPr id="17" name="Text 15"/>
          <p:cNvSpPr txBox="1"/>
          <p:nvPr/>
        </p:nvSpPr>
        <p:spPr>
          <a:xfrm>
            <a:off x="5231740" y="3218688"/>
            <a:ext cx="132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F98"/>
                </a:solidFill>
              </a:rPr>
              <a:t>→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64328" y="2670048"/>
            <a:ext cx="1463040" cy="1737360"/>
          </a:xfrm>
          <a:prstGeom prst="roundRect">
            <a:avLst>
              <a:gd name="adj" fmla="val 3750"/>
            </a:avLst>
          </a:prstGeom>
          <a:solidFill>
            <a:srgbClr val="12203F"/>
          </a:solidFill>
          <a:ln w="19050">
            <a:solidFill>
              <a:srgbClr val="4F86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19192" y="3054096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19192" y="3803904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the flags, cut hard</a:t>
            </a:r>
            <a:endParaRPr lang="en-US" sz="650" dirty="0"/>
          </a:p>
        </p:txBody>
      </p:sp>
      <p:sp>
        <p:nvSpPr>
          <p:cNvPr id="21" name="Text 19"/>
          <p:cNvSpPr txBox="1"/>
          <p:nvPr/>
        </p:nvSpPr>
        <p:spPr>
          <a:xfrm>
            <a:off x="6827368" y="3218688"/>
            <a:ext cx="132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F98"/>
                </a:solidFill>
              </a:rPr>
              <a:t>→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59956" y="2670048"/>
            <a:ext cx="1463040" cy="1737360"/>
          </a:xfrm>
          <a:prstGeom prst="roundRect">
            <a:avLst>
              <a:gd name="adj" fmla="val 3750"/>
            </a:avLst>
          </a:prstGeom>
          <a:solidFill>
            <a:srgbClr val="12203F"/>
          </a:solidFill>
          <a:ln w="19050">
            <a:solidFill>
              <a:srgbClr val="4F86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14820" y="3054096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014820" y="3803904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sources, 7 questions</a:t>
            </a:r>
            <a:endParaRPr lang="en-US" sz="650" dirty="0"/>
          </a:p>
        </p:txBody>
      </p:sp>
      <p:sp>
        <p:nvSpPr>
          <p:cNvPr id="25" name="Text 23"/>
          <p:cNvSpPr txBox="1"/>
          <p:nvPr/>
        </p:nvSpPr>
        <p:spPr>
          <a:xfrm>
            <a:off x="8422996" y="3218688"/>
            <a:ext cx="132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F98"/>
                </a:solidFill>
              </a:rPr>
              <a:t>→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55584" y="2670048"/>
            <a:ext cx="1463040" cy="1737360"/>
          </a:xfrm>
          <a:prstGeom prst="roundRect">
            <a:avLst>
              <a:gd name="adj" fmla="val 3750"/>
            </a:avLst>
          </a:prstGeom>
          <a:solidFill>
            <a:srgbClr val="12203F"/>
          </a:solidFill>
          <a:ln w="19050">
            <a:solidFill>
              <a:srgbClr val="4F86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10448" y="3054096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FORTNIGHTLY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610448" y="3803904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developments, 10 minutes</a:t>
            </a:r>
            <a:endParaRPr lang="en-US" sz="650" dirty="0"/>
          </a:p>
        </p:txBody>
      </p:sp>
      <p:sp>
        <p:nvSpPr>
          <p:cNvPr id="29" name="Text 27"/>
          <p:cNvSpPr txBox="1"/>
          <p:nvPr/>
        </p:nvSpPr>
        <p:spPr>
          <a:xfrm>
            <a:off x="10018624" y="3218688"/>
            <a:ext cx="132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F98"/>
                </a:solidFill>
              </a:rPr>
              <a:t>→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151212" y="2670048"/>
            <a:ext cx="1463040" cy="1737360"/>
          </a:xfrm>
          <a:prstGeom prst="roundRect">
            <a:avLst>
              <a:gd name="adj" fmla="val 3750"/>
            </a:avLst>
          </a:prstGeom>
          <a:solidFill>
            <a:srgbClr val="12203F"/>
          </a:solidFill>
          <a:ln w="19050">
            <a:solidFill>
              <a:srgbClr val="4F86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6076" y="3054096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SUBSTACK +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10206076" y="3803904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depth and reach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5298034" y="2029968"/>
            <a:ext cx="0" cy="2798064"/>
          </a:xfrm>
          <a:prstGeom prst="line">
            <a:avLst/>
          </a:prstGeom>
          <a:noFill/>
          <a:ln w="15875">
            <a:solidFill>
              <a:srgbClr val="F0603C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3880714" y="49194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6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machine judgement ends here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577444" y="213969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AUTOMATED — RUNS WITHOUT ME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5462626" y="2139696"/>
            <a:ext cx="5806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— WHERE THE VALUE IS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596188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produces raw material. It never writes a published word.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373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 MONITOR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4373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60" kern="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SUBSTACK — THE HOME OF RECORD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41248"/>
            <a:ext cx="5577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to eight developments. Ten minutes.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linked to a primary source.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743200"/>
            <a:ext cx="5349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Curation over volume. A reader should finish an edition thinking "I actually understand what has been happening in Europe" — not "I have now read a lot about Europe."</a:t>
            </a: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endParaRPr lang="en-US" sz="1250" dirty="0"/>
          </a:p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item carries a Why you should care panel. One statistic, chart or map per edition. One lighter or genuinely odd European development, because that is what makes people forward the email.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1,200–1,800 WORDS  ·  EVERY OTHER THURSDAY  ·  FREE</a:t>
            </a:r>
            <a:endParaRPr lang="en-US" sz="900" dirty="0"/>
          </a:p>
        </p:txBody>
      </p:sp>
      <p:pic>
        <p:nvPicPr>
          <p:cNvPr id="8" name="Image 0" descr="/root/EU-Monitor/mockups/out/sub-ed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384048"/>
            <a:ext cx="5303520" cy="55229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373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 MONITOR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4373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60" kern="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INSTAGRAM — A SECOND EDITORIAL FORMAT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41248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 advert for the Substack.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71907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carousel only says "new edition out now", it has wasted the slot. Each one is worth reading on its own — someone who never opens the Substack should still learn something.</a:t>
            </a:r>
            <a:endParaRPr lang="en-US" sz="1350" dirty="0"/>
          </a:p>
        </p:txBody>
      </p:sp>
      <p:pic>
        <p:nvPicPr>
          <p:cNvPr id="7" name="Image 0" descr="/root/EU-Monitor/mockups/out/ig-carousel-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304288"/>
            <a:ext cx="11064240" cy="34747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6928" y="5925312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slide carries one visual device — map, timeline, chart, before/after, comparison, screenshot, or a single large number. A slide of pure body text is the failure mode this format exists to avoid.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373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 MONITOR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4373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60" kern="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STORY, MULTIPLE OUTPUTS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41248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development. Ninety minutes of research.</a:t>
            </a:r>
            <a:endParaRPr lang="en-US" sz="3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published things.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2395728"/>
            <a:ext cx="10607040" cy="548640"/>
          </a:xfrm>
          <a:prstGeom prst="roundRect">
            <a:avLst>
              <a:gd name="adj" fmla="val 8333"/>
            </a:avLst>
          </a:prstGeom>
          <a:solidFill>
            <a:srgbClr val="14161B"/>
          </a:solidFill>
          <a:ln w="12700">
            <a:solidFill>
              <a:srgbClr val="2224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239572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AUG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39572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Commission proposes EU-wide age checks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836408" y="23957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Buried in a press-corner feed nobody reads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3054096"/>
            <a:ext cx="10607040" cy="548640"/>
          </a:xfrm>
          <a:prstGeom prst="roundRect">
            <a:avLst>
              <a:gd name="adj" fmla="val 8333"/>
            </a:avLst>
          </a:prstGeom>
          <a:solidFill>
            <a:srgbClr val="12203F"/>
          </a:solidFill>
          <a:ln w="12700">
            <a:solidFill>
              <a:srgbClr val="4F86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" y="305409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AUG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305409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flags it — six signals, score 96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836408" y="305409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Automatic. Cost: nothing.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712464"/>
            <a:ext cx="10607040" cy="548640"/>
          </a:xfrm>
          <a:prstGeom prst="roundRect">
            <a:avLst>
              <a:gd name="adj" fmla="val 8333"/>
            </a:avLst>
          </a:prstGeom>
          <a:solidFill>
            <a:srgbClr val="14161B"/>
          </a:solidFill>
          <a:ln w="12700">
            <a:solidFill>
              <a:srgbClr val="2224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" y="371246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11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371246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select it, read the proposal, answer seven questions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836408" y="371246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minutes. This is the only expensive step.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4370832"/>
            <a:ext cx="10607040" cy="548640"/>
          </a:xfrm>
          <a:prstGeom prst="roundRect">
            <a:avLst>
              <a:gd name="adj" fmla="val 8333"/>
            </a:avLst>
          </a:prstGeom>
          <a:solidFill>
            <a:srgbClr val="14161B"/>
          </a:solidFill>
          <a:ln w="12700">
            <a:solidFill>
              <a:srgbClr val="2224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8096" y="437083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13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37083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Substack: a 180-word briefing with the source linked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836408" y="43708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Depth, archive, credibility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5029200"/>
            <a:ext cx="10607040" cy="548640"/>
          </a:xfrm>
          <a:prstGeom prst="roundRect">
            <a:avLst>
              <a:gd name="adj" fmla="val 8333"/>
            </a:avLst>
          </a:prstGeom>
          <a:solidFill>
            <a:srgbClr val="14161B"/>
          </a:solidFill>
          <a:ln w="12700">
            <a:solidFill>
              <a:srgbClr val="2224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8096" y="50292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13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1737360" y="50292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Instagram: a seven-slide explainer from the same research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836408" y="50292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Reach, accessibility, no new research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5687568"/>
            <a:ext cx="10607040" cy="548640"/>
          </a:xfrm>
          <a:prstGeom prst="roundRect">
            <a:avLst>
              <a:gd name="adj" fmla="val 8333"/>
            </a:avLst>
          </a:prstGeom>
          <a:solidFill>
            <a:srgbClr val="14161B"/>
          </a:solidFill>
          <a:ln w="12700">
            <a:solidFill>
              <a:srgbClr val="22242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8096" y="568756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14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1737360" y="568756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university EU society reposts it to their members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836408" y="568756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I did not have to build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373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 MONITOR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4373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60" kern="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AUDIENCE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41248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Politically literate, chronically under-served.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3346704" cy="1874520"/>
          </a:xfrm>
          <a:prstGeom prst="roundRect">
            <a:avLst>
              <a:gd name="adj" fmla="val 2927"/>
            </a:avLst>
          </a:prstGeom>
          <a:solidFill>
            <a:srgbClr val="14161B"/>
          </a:solidFill>
          <a:ln w="12700">
            <a:solidFill>
              <a:srgbClr val="2224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304288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18–30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743200"/>
            <a:ext cx="28712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students, postgraduates, recent graduates and young professionals who follow politics but not EU politics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87952" y="2103120"/>
            <a:ext cx="3346704" cy="1874520"/>
          </a:xfrm>
          <a:prstGeom prst="roundRect">
            <a:avLst>
              <a:gd name="adj" fmla="val 2927"/>
            </a:avLst>
          </a:prstGeom>
          <a:solidFill>
            <a:srgbClr val="14161B"/>
          </a:solidFill>
          <a:ln w="12700">
            <a:solidFill>
              <a:srgbClr val="2224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25696" y="2304288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UK-based, EU-curious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425696" y="2743200"/>
            <a:ext cx="28712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readership that lost its institutional connection to Europe in 2020 and has had no accessible way back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08976" y="2103120"/>
            <a:ext cx="3346704" cy="1874520"/>
          </a:xfrm>
          <a:prstGeom prst="roundRect">
            <a:avLst>
              <a:gd name="adj" fmla="val 2927"/>
            </a:avLst>
          </a:prstGeom>
          <a:solidFill>
            <a:srgbClr val="14161B"/>
          </a:solidFill>
          <a:ln w="12700">
            <a:solidFill>
              <a:srgbClr val="2224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0" y="2304288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organised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2743200"/>
            <a:ext cx="28712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EU, Politics, IR and European societies at every UK university — audiences that already meet, already have feeds, and already need content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3159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20" kern="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DISTRIBUTION — THE UNIVERSITY SOCIETY NETWORK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4681728"/>
            <a:ext cx="2487168" cy="384048"/>
          </a:xfrm>
          <a:prstGeom prst="roundRect">
            <a:avLst>
              <a:gd name="adj" fmla="val 11905"/>
            </a:avLst>
          </a:prstGeom>
          <a:solidFill>
            <a:srgbClr val="14161B"/>
          </a:solidFill>
          <a:ln w="12700">
            <a:solidFill>
              <a:srgbClr val="363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468172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Cross-posting a carousel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64408" y="4681728"/>
            <a:ext cx="2487168" cy="384048"/>
          </a:xfrm>
          <a:prstGeom prst="roundRect">
            <a:avLst>
              <a:gd name="adj" fmla="val 11905"/>
            </a:avLst>
          </a:prstGeom>
          <a:solidFill>
            <a:srgbClr val="14161B"/>
          </a:solidFill>
          <a:ln w="12700">
            <a:solidFill>
              <a:srgbClr val="363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55848" y="468172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Co-branded explainers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61888" y="4681728"/>
            <a:ext cx="2487168" cy="384048"/>
          </a:xfrm>
          <a:prstGeom prst="roundRect">
            <a:avLst>
              <a:gd name="adj" fmla="val 11905"/>
            </a:avLst>
          </a:prstGeom>
          <a:solidFill>
            <a:srgbClr val="14161B"/>
          </a:solidFill>
          <a:ln w="12700">
            <a:solidFill>
              <a:srgbClr val="363A4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53328" y="468172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contributions from members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59368" y="4681728"/>
            <a:ext cx="2487168" cy="384048"/>
          </a:xfrm>
          <a:prstGeom prst="roundRect">
            <a:avLst>
              <a:gd name="adj" fmla="val 11905"/>
            </a:avLst>
          </a:prstGeom>
          <a:solidFill>
            <a:srgbClr val="14161B"/>
          </a:solidFill>
          <a:ln w="12700">
            <a:solidFill>
              <a:srgbClr val="363A4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750808" y="468172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takeovers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5193792"/>
            <a:ext cx="2487168" cy="384048"/>
          </a:xfrm>
          <a:prstGeom prst="roundRect">
            <a:avLst>
              <a:gd name="adj" fmla="val 11905"/>
            </a:avLst>
          </a:prstGeom>
          <a:solidFill>
            <a:srgbClr val="14161B"/>
          </a:solidFill>
          <a:ln w="12700">
            <a:solidFill>
              <a:srgbClr val="363A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519379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64408" y="5193792"/>
            <a:ext cx="2487168" cy="384048"/>
          </a:xfrm>
          <a:prstGeom prst="roundRect">
            <a:avLst>
              <a:gd name="adj" fmla="val 11905"/>
            </a:avLst>
          </a:prstGeom>
          <a:solidFill>
            <a:srgbClr val="14161B"/>
          </a:solidFill>
          <a:ln w="12700">
            <a:solidFill>
              <a:srgbClr val="363A4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55848" y="519379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cross-promotion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61888" y="5193792"/>
            <a:ext cx="2487168" cy="384048"/>
          </a:xfrm>
          <a:prstGeom prst="roundRect">
            <a:avLst>
              <a:gd name="adj" fmla="val 11905"/>
            </a:avLst>
          </a:prstGeom>
          <a:solidFill>
            <a:srgbClr val="14161B"/>
          </a:solidFill>
          <a:ln w="12700">
            <a:solidFill>
              <a:srgbClr val="363A4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053328" y="519379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events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58704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Sequenced deliberately: publish three editions first, then approach the societies I already work with, then widen. One edition is a pitch. Three is a publication.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373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 MONITOR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4373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60" kern="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FORTNIGHTLY CYCLE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41248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days of nothing, four days of work.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71907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to survive a dissertation, a job, and a fortnight when nothing gets done.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1160" y="2395728"/>
            <a:ext cx="2084832" cy="2286000"/>
          </a:xfrm>
          <a:prstGeom prst="roundRect">
            <a:avLst>
              <a:gd name="adj" fmla="val 2632"/>
            </a:avLst>
          </a:prstGeom>
          <a:solidFill>
            <a:srgbClr val="14161B"/>
          </a:solidFill>
          <a:ln w="12700">
            <a:solidFill>
              <a:srgbClr val="363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5752" y="259689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 1–10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55752" y="2980944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monitor runs.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 not think about it.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55752" y="420624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hours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55752" y="239572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63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MACHINE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822296" y="2395728"/>
            <a:ext cx="2084832" cy="2286000"/>
          </a:xfrm>
          <a:prstGeom prst="roundRect">
            <a:avLst>
              <a:gd name="adj" fmla="val 2632"/>
            </a:avLst>
          </a:prstGeom>
          <a:solidFill>
            <a:srgbClr val="12203F"/>
          </a:solidFill>
          <a:ln w="19050">
            <a:solidFill>
              <a:srgbClr val="4F86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86888" y="259689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11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2986888" y="2980944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flags.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five.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2986888" y="420624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1–1.5 hours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986888" y="239572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5053432" y="2395728"/>
            <a:ext cx="2084832" cy="2286000"/>
          </a:xfrm>
          <a:prstGeom prst="roundRect">
            <a:avLst>
              <a:gd name="adj" fmla="val 2632"/>
            </a:avLst>
          </a:prstGeom>
          <a:solidFill>
            <a:srgbClr val="12203F"/>
          </a:solidFill>
          <a:ln w="19050">
            <a:solidFill>
              <a:srgbClr val="4F86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8024" y="259689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 11–12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218024" y="2980944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against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sources.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218024" y="420624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3–5 hours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218024" y="239572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7284568" y="2395728"/>
            <a:ext cx="2084832" cy="2286000"/>
          </a:xfrm>
          <a:prstGeom prst="roundRect">
            <a:avLst>
              <a:gd name="adj" fmla="val 2632"/>
            </a:avLst>
          </a:prstGeom>
          <a:solidFill>
            <a:srgbClr val="12203F"/>
          </a:solidFill>
          <a:ln w="19050">
            <a:solidFill>
              <a:srgbClr val="4F86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49160" y="259689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 12–13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449160" y="2980944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Substack.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the carousels.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449160" y="420624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4–6 hours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449160" y="239572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9515704" y="2395728"/>
            <a:ext cx="2084832" cy="2286000"/>
          </a:xfrm>
          <a:prstGeom prst="roundRect">
            <a:avLst>
              <a:gd name="adj" fmla="val 2632"/>
            </a:avLst>
          </a:prstGeom>
          <a:solidFill>
            <a:srgbClr val="12203F"/>
          </a:solidFill>
          <a:ln w="19050">
            <a:solidFill>
              <a:srgbClr val="4F86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80296" y="259689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14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9680296" y="2980944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and distribute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the societies.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9680296" y="420624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hour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9680296" y="239572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</a:t>
            </a:r>
            <a:endParaRPr lang="en-US" sz="6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51389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9–13.5 hours per edition</a:t>
            </a:r>
            <a:endParaRPr lang="en-US" sz="3000" dirty="0"/>
          </a:p>
        </p:txBody>
      </p:sp>
      <p:sp>
        <p:nvSpPr>
          <p:cNvPr id="33" name="Text 31"/>
          <p:cNvSpPr txBox="1"/>
          <p:nvPr/>
        </p:nvSpPr>
        <p:spPr>
          <a:xfrm>
            <a:off x="5074920" y="5175504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Roughly five to seven hours a week, concentrated into a four-day burst. That is the whole argument for fortnightly: it fits inside a fortnight that also contains everything else.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373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 MONITOR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4373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60" kern="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THIS IS DIFFERENT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41248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too much and too shallow.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3346704" cy="3246120"/>
          </a:xfrm>
          <a:prstGeom prst="roundRect">
            <a:avLst>
              <a:gd name="adj" fmla="val 1972"/>
            </a:avLst>
          </a:prstGeom>
          <a:solidFill>
            <a:srgbClr val="14161B"/>
          </a:solidFill>
          <a:ln w="12700">
            <a:solidFill>
              <a:srgbClr val="363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957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8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TRADITIONAL EU NEWS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61488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much information.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041648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Accurate, comprehensive, and written for people whose job it already is. Assumes you know what a trilogue is and why you should care.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87952" y="2148840"/>
            <a:ext cx="3346704" cy="3246120"/>
          </a:xfrm>
          <a:prstGeom prst="roundRect">
            <a:avLst>
              <a:gd name="adj" fmla="val 1972"/>
            </a:avLst>
          </a:prstGeom>
          <a:solidFill>
            <a:srgbClr val="14161B"/>
          </a:solidFill>
          <a:ln w="12700">
            <a:solidFill>
              <a:srgbClr val="363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43984" y="23957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8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 MEDIA POLITICS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443984" y="2761488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too shallow.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443984" y="4041648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and fast, but rarely sourced, rarely analytical, and structurally unable to tell you what happens next.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08976" y="2148840"/>
            <a:ext cx="3346704" cy="3246120"/>
          </a:xfrm>
          <a:prstGeom prst="roundRect">
            <a:avLst>
              <a:gd name="adj" fmla="val 1972"/>
            </a:avLst>
          </a:prstGeom>
          <a:solidFill>
            <a:srgbClr val="12203F"/>
          </a:solidFill>
          <a:ln w="22225">
            <a:solidFill>
              <a:srgbClr val="4F86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65008" y="23957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80" kern="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 MONITOR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8065008" y="2761488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discovery.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analysis.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presentation.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065008" y="4041648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machine reads everything so a person can read the five things that matter — and then explains them to someone who has never read a regulation.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5742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not information. It is judgement, applied in public, by someone the reader's own age.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373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 MONITOR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76127" y="64373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60" kern="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PORTFOLIO VALUE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41248"/>
            <a:ext cx="5577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 is the evidence.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archive is the product.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212848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affairs and policy job specs routinely ask for "experience of providing a legislative and policy monitoring service". This is that service — run independently, in public, with the code open and every edition linkable.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3794760"/>
            <a:ext cx="2359152" cy="329184"/>
          </a:xfrm>
          <a:prstGeom prst="roundRect">
            <a:avLst>
              <a:gd name="adj" fmla="val 11111"/>
            </a:avLst>
          </a:prstGeom>
          <a:solidFill>
            <a:srgbClr val="14161B"/>
          </a:solidFill>
          <a:ln w="12700">
            <a:solidFill>
              <a:srgbClr val="363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" y="3794760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Political monitoring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3794760"/>
            <a:ext cx="2359152" cy="329184"/>
          </a:xfrm>
          <a:prstGeom prst="roundRect">
            <a:avLst>
              <a:gd name="adj" fmla="val 11111"/>
            </a:avLst>
          </a:prstGeom>
          <a:solidFill>
            <a:srgbClr val="14161B"/>
          </a:solidFill>
          <a:ln w="12700">
            <a:solidFill>
              <a:srgbClr val="363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18688" y="3794760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4224528"/>
            <a:ext cx="2359152" cy="329184"/>
          </a:xfrm>
          <a:prstGeom prst="roundRect">
            <a:avLst>
              <a:gd name="adj" fmla="val 11111"/>
            </a:avLst>
          </a:prstGeom>
          <a:solidFill>
            <a:srgbClr val="14161B"/>
          </a:solidFill>
          <a:ln w="12700">
            <a:solidFill>
              <a:srgbClr val="363A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6656" y="4224528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0" y="4224528"/>
            <a:ext cx="2359152" cy="329184"/>
          </a:xfrm>
          <a:prstGeom prst="roundRect">
            <a:avLst>
              <a:gd name="adj" fmla="val 11111"/>
            </a:avLst>
          </a:prstGeom>
          <a:solidFill>
            <a:srgbClr val="14161B"/>
          </a:solidFill>
          <a:ln w="12700">
            <a:solidFill>
              <a:srgbClr val="363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18688" y="4224528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4654296"/>
            <a:ext cx="2359152" cy="329184"/>
          </a:xfrm>
          <a:prstGeom prst="roundRect">
            <a:avLst>
              <a:gd name="adj" fmla="val 11111"/>
            </a:avLst>
          </a:prstGeom>
          <a:solidFill>
            <a:srgbClr val="14161B"/>
          </a:solidFill>
          <a:ln w="12700">
            <a:solidFill>
              <a:srgbClr val="363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" y="465429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08960" y="4654296"/>
            <a:ext cx="2359152" cy="329184"/>
          </a:xfrm>
          <a:prstGeom prst="roundRect">
            <a:avLst>
              <a:gd name="adj" fmla="val 11111"/>
            </a:avLst>
          </a:prstGeom>
          <a:solidFill>
            <a:srgbClr val="14161B"/>
          </a:solidFill>
          <a:ln w="12700">
            <a:solidFill>
              <a:srgbClr val="363A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18688" y="465429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5084064"/>
            <a:ext cx="2359152" cy="329184"/>
          </a:xfrm>
          <a:prstGeom prst="roundRect">
            <a:avLst>
              <a:gd name="adj" fmla="val 11111"/>
            </a:avLst>
          </a:prstGeom>
          <a:solidFill>
            <a:srgbClr val="14161B"/>
          </a:solidFill>
          <a:ln w="12700">
            <a:solidFill>
              <a:srgbClr val="363A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" y="5084064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08960" y="5084064"/>
            <a:ext cx="2359152" cy="329184"/>
          </a:xfrm>
          <a:prstGeom prst="roundRect">
            <a:avLst>
              <a:gd name="adj" fmla="val 11111"/>
            </a:avLst>
          </a:prstGeom>
          <a:solidFill>
            <a:srgbClr val="14161B"/>
          </a:solidFill>
          <a:ln w="12700">
            <a:solidFill>
              <a:srgbClr val="363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18688" y="5084064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communication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5513832"/>
            <a:ext cx="2359152" cy="329184"/>
          </a:xfrm>
          <a:prstGeom prst="roundRect">
            <a:avLst>
              <a:gd name="adj" fmla="val 11111"/>
            </a:avLst>
          </a:prstGeom>
          <a:solidFill>
            <a:srgbClr val="14161B"/>
          </a:solidFill>
          <a:ln w="12700">
            <a:solidFill>
              <a:srgbClr val="363A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6656" y="5513832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08960" y="5513832"/>
            <a:ext cx="2359152" cy="329184"/>
          </a:xfrm>
          <a:prstGeom prst="roundRect">
            <a:avLst>
              <a:gd name="adj" fmla="val 11111"/>
            </a:avLst>
          </a:prstGeom>
          <a:solidFill>
            <a:srgbClr val="14161B"/>
          </a:solidFill>
          <a:ln w="12700">
            <a:solidFill>
              <a:srgbClr val="363A4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18688" y="5513832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engagement</a:t>
            </a:r>
            <a:endParaRPr lang="en-US" sz="1000" dirty="0"/>
          </a:p>
        </p:txBody>
      </p:sp>
      <p:pic>
        <p:nvPicPr>
          <p:cNvPr id="27" name="Image 0" descr="/root/EU-Monitor/mockups/out/dash-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874520"/>
            <a:ext cx="5687568" cy="3264408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5943600" y="5321808"/>
            <a:ext cx="5687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2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 offline tests · 15 audited sources · 607 weighted keywords · a public tuning log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60" kern="0" dirty="0">
                <a:solidFill>
                  <a:srgbClr val="4F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ambition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965960"/>
            <a:ext cx="10515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small, independent</a:t>
            </a:r>
            <a:endParaRPr lang="en-US" sz="4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politics publication</a:t>
            </a:r>
            <a:endParaRPr lang="en-US" sz="4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generation</a:t>
            </a:r>
            <a:endParaRPr lang="en-US" sz="4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2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grew up online.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66928" y="5138928"/>
            <a:ext cx="2194560" cy="54864"/>
          </a:xfrm>
          <a:prstGeom prst="rect">
            <a:avLst/>
          </a:prstGeom>
          <a:solidFill>
            <a:srgbClr val="4F8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54406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does the boring monitoring. I do the interesting part.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6C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finds the signal. I decide what matters.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515807" y="5440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000" spc="16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 MONITOR</a:t>
            </a:r>
            <a:endParaRPr lang="en-US" sz="1000" dirty="0"/>
          </a:p>
          <a:p>
            <a:pPr algn="r" indent="0" marL="0">
              <a:lnSpc>
                <a:spcPts val="1600"/>
              </a:lnSpc>
              <a:buNone/>
            </a:pPr>
            <a:r>
              <a:rPr lang="en-US" sz="1000" spc="16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eumonitor.substack.com</a:t>
            </a:r>
            <a:endParaRPr lang="en-US" sz="1000" dirty="0"/>
          </a:p>
          <a:p>
            <a:pPr algn="r" indent="0" marL="0">
              <a:lnSpc>
                <a:spcPts val="1600"/>
              </a:lnSpc>
              <a:buNone/>
            </a:pPr>
            <a:r>
              <a:rPr lang="en-US" sz="1000" spc="16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@eumonitor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 Monitor — concept deck</dc:title>
  <dc:subject>PptxGenJS Presentation</dc:subject>
  <dc:creator>Leshan</dc:creator>
  <cp:lastModifiedBy>Leshan</cp:lastModifiedBy>
  <cp:revision>1</cp:revision>
  <dcterms:created xsi:type="dcterms:W3CDTF">2026-08-27T13:37:29Z</dcterms:created>
  <dcterms:modified xsi:type="dcterms:W3CDTF">2026-08-27T13:37:29Z</dcterms:modified>
</cp:coreProperties>
</file>